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4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395C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2395C"/>
                </a:solidFill>
                <a:latin typeface="Calibri"/>
              </a:rPr>
              <a:t>Average Score by Skill Area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Score (%)</c:v>
                </c:pt>
              </c:strCache>
            </c:strRef>
          </c:tx>
          <c:spPr>
            <a:solidFill>
              <a:srgbClr val="2E6DA4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A2B3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Aptitude</c:v>
                </c:pt>
                <c:pt idx="1">
                  <c:v>Technical</c:v>
                </c:pt>
                <c:pt idx="2">
                  <c:v>Communication</c:v>
                </c:pt>
                <c:pt idx="3">
                  <c:v>Mock Interview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</c:v>
                </c:pt>
                <c:pt idx="1">
                  <c:v>68</c:v>
                </c:pt>
                <c:pt idx="2">
                  <c:v>75</c:v>
                </c:pt>
                <c:pt idx="3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26-46AF-9C68-5AF941DC13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8E3F0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A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EBF1F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8E3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395C"/>
                </a:solidFill>
                <a:latin typeface="Calibri"/>
              </a:defRPr>
            </a:pPr>
            <a:r>
              <a:rPr lang="en-IN" sz="1200" b="0" i="0" u="none" strike="noStrike">
                <a:solidFill>
                  <a:srgbClr val="12395C"/>
                </a:solidFill>
                <a:latin typeface="Calibri"/>
              </a:rPr>
              <a:t>Placement Readiness Split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Placement Readiness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2395C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5AEB-47A9-A53E-2AD83717B686}"/>
              </c:ext>
            </c:extLst>
          </c:dPt>
          <c:dPt>
            <c:idx val="1"/>
            <c:bubble3D val="0"/>
            <c:spPr>
              <a:solidFill>
                <a:srgbClr val="2E6DA4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5AEB-47A9-A53E-2AD83717B686}"/>
              </c:ext>
            </c:extLst>
          </c:dPt>
          <c:dPt>
            <c:idx val="2"/>
            <c:bubble3D val="0"/>
            <c:spPr>
              <a:solidFill>
                <a:srgbClr val="5B9BD5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5-5AEB-47A9-A53E-2AD83717B686}"/>
              </c:ext>
            </c:extLst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AEB-47A9-A53E-2AD83717B686}"/>
                </c:ext>
              </c:extLst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AEB-47A9-A53E-2AD83717B686}"/>
                </c:ext>
              </c:extLst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AEB-47A9-A53E-2AD83717B686}"/>
                </c:ext>
              </c:extLst>
            </c:dLbl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Placement Ready</c:v>
                </c:pt>
                <c:pt idx="1">
                  <c:v>In Progress</c:v>
                </c:pt>
                <c:pt idx="2">
                  <c:v>Needs Improvement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58</c:v>
                </c:pt>
                <c:pt idx="1">
                  <c:v>27</c:v>
                </c:pt>
                <c:pt idx="2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EB-47A9-A53E-2AD83717B6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5A6B7B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9500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2E6DA4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206240"/>
            <a:ext cx="3291840" cy="3291840"/>
          </a:xfrm>
          <a:prstGeom prst="ellipse">
            <a:avLst/>
          </a:prstGeom>
          <a:solidFill>
            <a:srgbClr val="5B9BD5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281160" y="1051560"/>
            <a:ext cx="1737360" cy="1737360"/>
          </a:xfrm>
          <a:prstGeom prst="ellipse">
            <a:avLst/>
          </a:prstGeom>
          <a:solidFill>
            <a:srgbClr val="2E6DA4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2874" y="1503274"/>
            <a:ext cx="833933" cy="83393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1417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TRAINING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85800" y="187452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Tracker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31520" y="288036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C7D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approach to monitoring engineering student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C7D9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readiness — attendance, skills, and interview performance.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85800" y="3977640"/>
            <a:ext cx="7863840" cy="2148840"/>
          </a:xfrm>
          <a:prstGeom prst="roundRect">
            <a:avLst>
              <a:gd name="adj" fmla="val 510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5B9BD5">
                <a:alpha val="6000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32688" y="4178808"/>
            <a:ext cx="384048" cy="384048"/>
          </a:xfrm>
          <a:prstGeom prst="ellipse">
            <a:avLst/>
          </a:prstGeom>
          <a:solidFill>
            <a:srgbClr val="2E6DA4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" y="4279392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81328" y="41513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481328" y="432511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chemeClr val="bg1"/>
                </a:solidFill>
              </a:rPr>
              <a:t>GIFY SAMUEL A, SRIGANESH S, </a:t>
            </a:r>
            <a:r>
              <a:rPr lang="en-IN" sz="1200" dirty="0">
                <a:solidFill>
                  <a:schemeClr val="bg1"/>
                </a:solidFill>
              </a:rPr>
              <a:t>MUHAMMAD SHAAHID S, AJAY ADITYAA SS, JEEVABHARATHI S.</a:t>
            </a:r>
          </a:p>
        </p:txBody>
      </p:sp>
      <p:sp>
        <p:nvSpPr>
          <p:cNvPr id="14" name="Shape 10"/>
          <p:cNvSpPr/>
          <p:nvPr/>
        </p:nvSpPr>
        <p:spPr>
          <a:xfrm>
            <a:off x="932688" y="4654296"/>
            <a:ext cx="384048" cy="384048"/>
          </a:xfrm>
          <a:prstGeom prst="ellipse">
            <a:avLst/>
          </a:prstGeom>
          <a:solidFill>
            <a:srgbClr val="2E6DA4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4754880"/>
            <a:ext cx="182880" cy="1828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81328" y="462686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</a:t>
            </a:r>
            <a:endParaRPr lang="en-US" sz="950" dirty="0"/>
          </a:p>
        </p:txBody>
      </p:sp>
      <p:sp>
        <p:nvSpPr>
          <p:cNvPr id="17" name="Text 12"/>
          <p:cNvSpPr/>
          <p:nvPr/>
        </p:nvSpPr>
        <p:spPr>
          <a:xfrm>
            <a:off x="1481328" y="48006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EEE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932688" y="5129784"/>
            <a:ext cx="384048" cy="384048"/>
          </a:xfrm>
          <a:prstGeom prst="ellipse">
            <a:avLst/>
          </a:prstGeom>
          <a:solidFill>
            <a:srgbClr val="2E6DA4"/>
          </a:solidFill>
          <a:ln/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3272" y="5230368"/>
            <a:ext cx="182880" cy="18288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481328" y="51023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 NAME</a:t>
            </a:r>
            <a:endParaRPr lang="en-US" sz="950" dirty="0"/>
          </a:p>
        </p:txBody>
      </p:sp>
      <p:sp>
        <p:nvSpPr>
          <p:cNvPr id="21" name="Text 15"/>
          <p:cNvSpPr/>
          <p:nvPr/>
        </p:nvSpPr>
        <p:spPr>
          <a:xfrm>
            <a:off x="1481328" y="52760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Eshwar College of Engineering 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32688" y="5605272"/>
            <a:ext cx="384048" cy="384048"/>
          </a:xfrm>
          <a:prstGeom prst="ellipse">
            <a:avLst/>
          </a:prstGeom>
          <a:solidFill>
            <a:srgbClr val="2E6DA4"/>
          </a:solidFill>
          <a:ln/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272" y="5705856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481328" y="55778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</a:t>
            </a:r>
            <a:endParaRPr lang="en-US" sz="950" dirty="0"/>
          </a:p>
        </p:txBody>
      </p:sp>
      <p:sp>
        <p:nvSpPr>
          <p:cNvPr id="25" name="Text 18"/>
          <p:cNvSpPr/>
          <p:nvPr/>
        </p:nvSpPr>
        <p:spPr>
          <a:xfrm>
            <a:off x="1481328" y="575157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THE CONTEXT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3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383280" cy="4023360"/>
          </a:xfrm>
          <a:prstGeom prst="roundRect">
            <a:avLst>
              <a:gd name="adj" fmla="val 2703"/>
            </a:avLst>
          </a:prstGeom>
          <a:solidFill>
            <a:srgbClr val="EAF1FB"/>
          </a:solidFill>
          <a:ln/>
        </p:spPr>
      </p:sp>
      <p:sp>
        <p:nvSpPr>
          <p:cNvPr id="5" name="Shape 3"/>
          <p:cNvSpPr/>
          <p:nvPr/>
        </p:nvSpPr>
        <p:spPr>
          <a:xfrm>
            <a:off x="1874520" y="2057400"/>
            <a:ext cx="914400" cy="914400"/>
          </a:xfrm>
          <a:prstGeom prst="ellipse">
            <a:avLst/>
          </a:prstGeom>
          <a:solidFill>
            <a:srgbClr val="2E6DA4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2264" y="2295144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23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Placement Training Matters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397764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training builds the aptitude, technical depth, and confidence recruiters look for in campus hiring.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43400" y="1691640"/>
            <a:ext cx="3383280" cy="4023360"/>
          </a:xfrm>
          <a:prstGeom prst="roundRect">
            <a:avLst>
              <a:gd name="adj" fmla="val 2703"/>
            </a:avLst>
          </a:prstGeom>
          <a:solidFill>
            <a:srgbClr val="EAF1FB"/>
          </a:solidFill>
          <a:ln/>
        </p:spPr>
      </p:sp>
      <p:sp>
        <p:nvSpPr>
          <p:cNvPr id="10" name="Shape 7"/>
          <p:cNvSpPr/>
          <p:nvPr/>
        </p:nvSpPr>
        <p:spPr>
          <a:xfrm>
            <a:off x="5577840" y="2057400"/>
            <a:ext cx="914400" cy="914400"/>
          </a:xfrm>
          <a:prstGeom prst="ellipse">
            <a:avLst/>
          </a:prstGeom>
          <a:solidFill>
            <a:srgbClr val="2E6DA4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5584" y="229514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7720" y="32004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23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Students Face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663440" y="397764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practice, unclear weak areas, and limited feedback often slow down placement preparation.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1691640"/>
            <a:ext cx="3383280" cy="4023360"/>
          </a:xfrm>
          <a:prstGeom prst="roundRect">
            <a:avLst>
              <a:gd name="adj" fmla="val 2703"/>
            </a:avLst>
          </a:prstGeom>
          <a:solidFill>
            <a:srgbClr val="EAF1FB"/>
          </a:solidFill>
          <a:ln/>
        </p:spPr>
      </p:sp>
      <p:sp>
        <p:nvSpPr>
          <p:cNvPr id="15" name="Shape 11"/>
          <p:cNvSpPr/>
          <p:nvPr/>
        </p:nvSpPr>
        <p:spPr>
          <a:xfrm>
            <a:off x="9281160" y="2057400"/>
            <a:ext cx="914400" cy="914400"/>
          </a:xfrm>
          <a:prstGeom prst="ellipse">
            <a:avLst/>
          </a:prstGeom>
          <a:solidFill>
            <a:srgbClr val="2E6DA4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8904" y="2295144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21040" y="32004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23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Tracking Is Needed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366760" y="397764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tracker turns scattered effort into visible, measurable progress toward placement readiness.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Training Progress Tracker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TRACKER AIMS TO 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3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074920" cy="1965960"/>
          </a:xfrm>
          <a:prstGeom prst="roundRect">
            <a:avLst>
              <a:gd name="adj" fmla="val 4651"/>
            </a:avLst>
          </a:prstGeom>
          <a:solidFill>
            <a:srgbClr val="EAF1F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54580"/>
            <a:ext cx="822960" cy="822960"/>
          </a:xfrm>
          <a:prstGeom prst="ellipse">
            <a:avLst/>
          </a:prstGeom>
          <a:solidFill>
            <a:srgbClr val="12395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370" y="256855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203911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3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 Attendance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920240" y="2441448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student attendance across every training session consistently.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783080"/>
            <a:ext cx="5074920" cy="1965960"/>
          </a:xfrm>
          <a:prstGeom prst="roundRect">
            <a:avLst>
              <a:gd name="adj" fmla="val 4651"/>
            </a:avLst>
          </a:prstGeom>
          <a:solidFill>
            <a:srgbClr val="EAF1FB"/>
          </a:solidFill>
          <a:ln/>
        </p:spPr>
      </p:sp>
      <p:sp>
        <p:nvSpPr>
          <p:cNvPr id="10" name="Shape 7"/>
          <p:cNvSpPr/>
          <p:nvPr/>
        </p:nvSpPr>
        <p:spPr>
          <a:xfrm>
            <a:off x="6446520" y="2354580"/>
            <a:ext cx="822960" cy="822960"/>
          </a:xfrm>
          <a:prstGeom prst="ellipse">
            <a:avLst/>
          </a:prstGeom>
          <a:solidFill>
            <a:srgbClr val="12395C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490" y="2568550"/>
            <a:ext cx="395021" cy="3950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52360" y="203911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3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Performance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452360" y="2441448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aptitude and technical scores to reveal real progress over time.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4069080"/>
            <a:ext cx="5074920" cy="1965960"/>
          </a:xfrm>
          <a:prstGeom prst="roundRect">
            <a:avLst>
              <a:gd name="adj" fmla="val 4651"/>
            </a:avLst>
          </a:prstGeom>
          <a:solidFill>
            <a:srgbClr val="EAF1FB"/>
          </a:solidFill>
          <a:ln/>
        </p:spPr>
      </p:sp>
      <p:sp>
        <p:nvSpPr>
          <p:cNvPr id="15" name="Shape 11"/>
          <p:cNvSpPr/>
          <p:nvPr/>
        </p:nvSpPr>
        <p:spPr>
          <a:xfrm>
            <a:off x="914400" y="4640580"/>
            <a:ext cx="822960" cy="822960"/>
          </a:xfrm>
          <a:prstGeom prst="ellipse">
            <a:avLst/>
          </a:prstGeom>
          <a:solidFill>
            <a:srgbClr val="12395C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8370" y="4854550"/>
            <a:ext cx="395021" cy="39502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20240" y="432511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3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 Soft Skills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920240" y="4727448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Strengthen communication and interview skills through regular evaluation.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172200" y="4069080"/>
            <a:ext cx="5074920" cy="1965960"/>
          </a:xfrm>
          <a:prstGeom prst="roundRect">
            <a:avLst>
              <a:gd name="adj" fmla="val 4651"/>
            </a:avLst>
          </a:prstGeom>
          <a:solidFill>
            <a:srgbClr val="EAF1FB"/>
          </a:solidFill>
          <a:ln/>
        </p:spPr>
      </p:sp>
      <p:sp>
        <p:nvSpPr>
          <p:cNvPr id="20" name="Shape 15"/>
          <p:cNvSpPr/>
          <p:nvPr/>
        </p:nvSpPr>
        <p:spPr>
          <a:xfrm>
            <a:off x="6446520" y="4640580"/>
            <a:ext cx="822960" cy="822960"/>
          </a:xfrm>
          <a:prstGeom prst="ellipse">
            <a:avLst/>
          </a:prstGeom>
          <a:solidFill>
            <a:srgbClr val="12395C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0490" y="4854550"/>
            <a:ext cx="395021" cy="39502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52360" y="432511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3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Enhance Readiness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452360" y="4727448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every student closer to full placement readiness, step by step.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Training Progress Tracker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PILLARS OF THE TRACKER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3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Features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623060" y="3177540"/>
            <a:ext cx="8945575" cy="0"/>
          </a:xfrm>
          <a:prstGeom prst="line">
            <a:avLst/>
          </a:prstGeom>
          <a:noFill/>
          <a:ln w="25400">
            <a:solidFill>
              <a:srgbClr val="5B9BD5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476756" y="2322576"/>
            <a:ext cx="292608" cy="292608"/>
          </a:xfrm>
          <a:prstGeom prst="ellipse">
            <a:avLst/>
          </a:prstGeom>
          <a:solidFill>
            <a:srgbClr val="12395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76756" y="2313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97280" y="2651760"/>
            <a:ext cx="1051560" cy="1051560"/>
          </a:xfrm>
          <a:prstGeom prst="ellipse">
            <a:avLst/>
          </a:prstGeom>
          <a:solidFill>
            <a:srgbClr val="2E6DA4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686" y="2925166"/>
            <a:ext cx="504749" cy="50474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2920" y="3931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713150" y="2322576"/>
            <a:ext cx="292608" cy="292608"/>
          </a:xfrm>
          <a:prstGeom prst="ellipse">
            <a:avLst/>
          </a:prstGeom>
          <a:solidFill>
            <a:srgbClr val="12395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713150" y="2313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33674" y="2651760"/>
            <a:ext cx="1051560" cy="1051560"/>
          </a:xfrm>
          <a:prstGeom prst="ellipse">
            <a:avLst/>
          </a:prstGeom>
          <a:solidFill>
            <a:srgbClr val="12395C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7079" y="2925166"/>
            <a:ext cx="504749" cy="5047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739314" y="3931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Aptitude Score</a:t>
            </a:r>
            <a:endParaRPr lang="en-US" sz="12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949544" y="2322576"/>
            <a:ext cx="292608" cy="292608"/>
          </a:xfrm>
          <a:prstGeom prst="ellipse">
            <a:avLst/>
          </a:prstGeom>
          <a:solidFill>
            <a:srgbClr val="12395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949544" y="2313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570068" y="2651760"/>
            <a:ext cx="1051560" cy="1051560"/>
          </a:xfrm>
          <a:prstGeom prst="ellipse">
            <a:avLst/>
          </a:prstGeom>
          <a:solidFill>
            <a:srgbClr val="2E6DA4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3473" y="2925166"/>
            <a:ext cx="504749" cy="50474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975708" y="3931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Skill</a:t>
            </a:r>
            <a:endParaRPr lang="en-US" sz="12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8185937" y="2322576"/>
            <a:ext cx="292608" cy="292608"/>
          </a:xfrm>
          <a:prstGeom prst="ellipse">
            <a:avLst/>
          </a:prstGeom>
          <a:solidFill>
            <a:srgbClr val="12395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8185937" y="2313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7806461" y="2651760"/>
            <a:ext cx="1051560" cy="1051560"/>
          </a:xfrm>
          <a:prstGeom prst="ellipse">
            <a:avLst/>
          </a:prstGeom>
          <a:solidFill>
            <a:srgbClr val="12395C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9867" y="2925166"/>
            <a:ext cx="504749" cy="50474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212101" y="3931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12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10422331" y="2322576"/>
            <a:ext cx="292608" cy="292608"/>
          </a:xfrm>
          <a:prstGeom prst="ellipse">
            <a:avLst/>
          </a:prstGeom>
          <a:solidFill>
            <a:srgbClr val="12395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10422331" y="2313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10042855" y="2651760"/>
            <a:ext cx="1051560" cy="1051560"/>
          </a:xfrm>
          <a:prstGeom prst="ellipse">
            <a:avLst/>
          </a:prstGeom>
          <a:solidFill>
            <a:srgbClr val="2E6DA4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6261" y="2925166"/>
            <a:ext cx="504749" cy="504749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448495" y="3931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Interview</a:t>
            </a:r>
            <a:endParaRPr lang="en-US" sz="125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</a:t>
            </a:r>
            <a:endParaRPr lang="en-US" sz="1250" dirty="0"/>
          </a:p>
        </p:txBody>
      </p:sp>
      <p:sp>
        <p:nvSpPr>
          <p:cNvPr id="30" name="Shape 23"/>
          <p:cNvSpPr/>
          <p:nvPr/>
        </p:nvSpPr>
        <p:spPr>
          <a:xfrm>
            <a:off x="640080" y="507492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EAF1FB"/>
          </a:solidFill>
          <a:ln/>
        </p:spPr>
      </p:sp>
      <p:sp>
        <p:nvSpPr>
          <p:cNvPr id="31" name="Text 24"/>
          <p:cNvSpPr/>
          <p:nvPr/>
        </p:nvSpPr>
        <p:spPr>
          <a:xfrm>
            <a:off x="914400" y="5138928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these five pillars give trainers and students a complete, side-by-side view of placement readiness — not just marks, but the full picture.</a:t>
            </a:r>
            <a:endParaRPr lang="en-US" sz="1250" dirty="0"/>
          </a:p>
        </p:txBody>
      </p:sp>
      <p:sp>
        <p:nvSpPr>
          <p:cNvPr id="32" name="Text 25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Training Progress Tracker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SCORES INTO 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3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Data Analysis</a:t>
            </a:r>
            <a:endParaRPr lang="en-US" sz="3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40080" y="1691640"/>
          <a:ext cx="594360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6766560" y="1691640"/>
          <a:ext cx="480060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Shape 2"/>
          <p:cNvSpPr/>
          <p:nvPr/>
        </p:nvSpPr>
        <p:spPr>
          <a:xfrm>
            <a:off x="640080" y="489204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12395C"/>
          </a:solidFill>
          <a:ln/>
        </p:spPr>
      </p:sp>
      <p:sp>
        <p:nvSpPr>
          <p:cNvPr id="7" name="Text 3"/>
          <p:cNvSpPr/>
          <p:nvPr/>
        </p:nvSpPr>
        <p:spPr>
          <a:xfrm>
            <a:off x="640080" y="500176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71%</a:t>
            </a:r>
            <a:endParaRPr lang="en-US" sz="3000" dirty="0"/>
          </a:p>
        </p:txBody>
      </p:sp>
      <p:sp>
        <p:nvSpPr>
          <p:cNvPr id="8" name="Text 4"/>
          <p:cNvSpPr/>
          <p:nvPr/>
        </p:nvSpPr>
        <p:spPr>
          <a:xfrm>
            <a:off x="640080" y="57332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SCORE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3547872" y="489204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12395C"/>
          </a:solidFill>
          <a:ln/>
        </p:spPr>
      </p:sp>
      <p:sp>
        <p:nvSpPr>
          <p:cNvPr id="10" name="Text 6"/>
          <p:cNvSpPr/>
          <p:nvPr/>
        </p:nvSpPr>
        <p:spPr>
          <a:xfrm>
            <a:off x="3547872" y="500176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94%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3547872" y="57332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SCORE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455664" y="489204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12395C"/>
          </a:solidFill>
          <a:ln/>
        </p:spPr>
      </p:sp>
      <p:sp>
        <p:nvSpPr>
          <p:cNvPr id="13" name="Text 9"/>
          <p:cNvSpPr/>
          <p:nvPr/>
        </p:nvSpPr>
        <p:spPr>
          <a:xfrm>
            <a:off x="6455664" y="500176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42%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6455664" y="57332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SCORE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9363456" y="489204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12395C"/>
          </a:solidFill>
          <a:ln/>
        </p:spPr>
      </p:sp>
      <p:sp>
        <p:nvSpPr>
          <p:cNvPr id="16" name="Text 12"/>
          <p:cNvSpPr/>
          <p:nvPr/>
        </p:nvSpPr>
        <p:spPr>
          <a:xfrm>
            <a:off x="9363456" y="500176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9363456" y="57332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READY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Training Progress Tracker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1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DELIVERED TO STUDENTS &amp; TRAINERS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3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0749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DB8D4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54580"/>
            <a:ext cx="822960" cy="822960"/>
          </a:xfrm>
          <a:prstGeom prst="ellipse">
            <a:avLst/>
          </a:prstGeom>
          <a:solidFill>
            <a:srgbClr val="2E6DA4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8370" y="256855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203911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3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 Weak Areas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920240" y="2441448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Pinpoints exactly where each student needs more focused practice.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783080"/>
            <a:ext cx="50749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DB8D4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46520" y="2354580"/>
            <a:ext cx="822960" cy="822960"/>
          </a:xfrm>
          <a:prstGeom prst="ellipse">
            <a:avLst/>
          </a:prstGeom>
          <a:solidFill>
            <a:srgbClr val="2E6DA4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490" y="2568550"/>
            <a:ext cx="395021" cy="3950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52360" y="203911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3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Sharper Preparation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452360" y="2441448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raw scores into a clear, actionable preparation strategy.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4069080"/>
            <a:ext cx="50749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DB8D4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640580"/>
            <a:ext cx="822960" cy="822960"/>
          </a:xfrm>
          <a:prstGeom prst="ellipse">
            <a:avLst/>
          </a:prstGeom>
          <a:solidFill>
            <a:srgbClr val="2E6DA4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8370" y="4854550"/>
            <a:ext cx="395021" cy="39502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20240" y="432511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3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Supports Trainers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920240" y="4727448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trainers an at-a-glance view to guide every student better.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172200" y="4069080"/>
            <a:ext cx="50749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9DB8D4">
                <a:alpha val="2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46520" y="4640580"/>
            <a:ext cx="822960" cy="822960"/>
          </a:xfrm>
          <a:prstGeom prst="ellipse">
            <a:avLst/>
          </a:prstGeom>
          <a:solidFill>
            <a:srgbClr val="2E6DA4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0490" y="4854550"/>
            <a:ext cx="395021" cy="39502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52360" y="432511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3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Higher Success Rate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452360" y="4727448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tracking translates into stronger placement outcomes.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Training Progress Tracker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E6D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TRACKER IS HEADED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3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Enhancements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468880" cy="356616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/>
        </p:spPr>
      </p:sp>
      <p:sp>
        <p:nvSpPr>
          <p:cNvPr id="5" name="Shape 3"/>
          <p:cNvSpPr/>
          <p:nvPr/>
        </p:nvSpPr>
        <p:spPr>
          <a:xfrm>
            <a:off x="1394460" y="2286000"/>
            <a:ext cx="960120" cy="960120"/>
          </a:xfrm>
          <a:prstGeom prst="ellipse">
            <a:avLst/>
          </a:prstGeom>
          <a:solidFill>
            <a:srgbClr val="12395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4091" y="2535631"/>
            <a:ext cx="460858" cy="4608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429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23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Online Dashboard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40233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web dashboard for real-time progress visibility.</a:t>
            </a:r>
            <a:endParaRPr lang="en-US" sz="11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3613" y="3520440"/>
            <a:ext cx="256032" cy="25603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54298" y="1965960"/>
            <a:ext cx="2468880" cy="356616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/>
        </p:spPr>
      </p:sp>
      <p:sp>
        <p:nvSpPr>
          <p:cNvPr id="11" name="Shape 7"/>
          <p:cNvSpPr/>
          <p:nvPr/>
        </p:nvSpPr>
        <p:spPr>
          <a:xfrm>
            <a:off x="4208678" y="2286000"/>
            <a:ext cx="960120" cy="960120"/>
          </a:xfrm>
          <a:prstGeom prst="ellipse">
            <a:avLst/>
          </a:prstGeom>
          <a:solidFill>
            <a:srgbClr val="12395C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8310" y="2535631"/>
            <a:ext cx="460858" cy="46085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91458" y="3429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23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 App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3637178" y="40233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On-the-go access for students and trainers alike.</a:t>
            </a:r>
            <a:endParaRPr lang="en-US" sz="115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7832" y="3520440"/>
            <a:ext cx="256032" cy="25603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268517" y="1965960"/>
            <a:ext cx="2468880" cy="356616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/>
        </p:spPr>
      </p:sp>
      <p:sp>
        <p:nvSpPr>
          <p:cNvPr id="17" name="Shape 11"/>
          <p:cNvSpPr/>
          <p:nvPr/>
        </p:nvSpPr>
        <p:spPr>
          <a:xfrm>
            <a:off x="7022897" y="2286000"/>
            <a:ext cx="960120" cy="960120"/>
          </a:xfrm>
          <a:prstGeom prst="ellipse">
            <a:avLst/>
          </a:prstGeom>
          <a:solidFill>
            <a:srgbClr val="12395C"/>
          </a:solidFill>
          <a:ln/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2528" y="2535631"/>
            <a:ext cx="460858" cy="46085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405677" y="3429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23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Prediction</a:t>
            </a:r>
            <a:endParaRPr lang="en-US" sz="1500" dirty="0"/>
          </a:p>
        </p:txBody>
      </p:sp>
      <p:sp>
        <p:nvSpPr>
          <p:cNvPr id="20" name="Text 13"/>
          <p:cNvSpPr/>
          <p:nvPr/>
        </p:nvSpPr>
        <p:spPr>
          <a:xfrm>
            <a:off x="6451397" y="40233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AI-based models to predict placement outcomes early.</a:t>
            </a:r>
            <a:endParaRPr lang="en-US" sz="1150" dirty="0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2050" y="3520440"/>
            <a:ext cx="256032" cy="256032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9082735" y="1965960"/>
            <a:ext cx="2468880" cy="3566160"/>
          </a:xfrm>
          <a:prstGeom prst="roundRect">
            <a:avLst>
              <a:gd name="adj" fmla="val 4444"/>
            </a:avLst>
          </a:prstGeom>
          <a:solidFill>
            <a:srgbClr val="EAF1FB"/>
          </a:solidFill>
          <a:ln/>
        </p:spPr>
      </p:sp>
      <p:sp>
        <p:nvSpPr>
          <p:cNvPr id="23" name="Shape 15"/>
          <p:cNvSpPr/>
          <p:nvPr/>
        </p:nvSpPr>
        <p:spPr>
          <a:xfrm>
            <a:off x="9837115" y="2286000"/>
            <a:ext cx="960120" cy="960120"/>
          </a:xfrm>
          <a:prstGeom prst="ellipse">
            <a:avLst/>
          </a:prstGeom>
          <a:solidFill>
            <a:srgbClr val="12395C"/>
          </a:solidFill>
          <a:ln/>
        </p:spPr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6746" y="2535631"/>
            <a:ext cx="460858" cy="46085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219895" y="3429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23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Reports</a:t>
            </a:r>
            <a:endParaRPr lang="en-US" sz="1500" dirty="0"/>
          </a:p>
        </p:txBody>
      </p:sp>
      <p:sp>
        <p:nvSpPr>
          <p:cNvPr id="26" name="Text 17"/>
          <p:cNvSpPr/>
          <p:nvPr/>
        </p:nvSpPr>
        <p:spPr>
          <a:xfrm>
            <a:off x="9265615" y="40233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progress reports, no manual effort.</a:t>
            </a:r>
            <a:endParaRPr lang="en-US" sz="1150" dirty="0"/>
          </a:p>
        </p:txBody>
      </p:sp>
      <p:sp>
        <p:nvSpPr>
          <p:cNvPr id="27" name="Text 18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Training Progress Tracker</a:t>
            </a:r>
            <a:endParaRPr lang="en-US" sz="900" dirty="0"/>
          </a:p>
        </p:txBody>
      </p:sp>
      <p:sp>
        <p:nvSpPr>
          <p:cNvPr id="28" name="Text 1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3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572000" cy="4572000"/>
          </a:xfrm>
          <a:prstGeom prst="ellipse">
            <a:avLst/>
          </a:prstGeom>
          <a:solidFill>
            <a:srgbClr val="2E6DA4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3840480"/>
            <a:ext cx="3840480" cy="3840480"/>
          </a:xfrm>
          <a:prstGeom prst="ellipse">
            <a:avLst/>
          </a:prstGeom>
          <a:solidFill>
            <a:srgbClr val="5B9BD5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Tracking Progress, Building Careers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1965960"/>
            <a:ext cx="594360" cy="594360"/>
          </a:xfrm>
          <a:prstGeom prst="ellipse">
            <a:avLst/>
          </a:prstGeom>
          <a:solidFill>
            <a:srgbClr val="2E6DA4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054" y="2120494"/>
            <a:ext cx="285293" cy="28529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1947672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attendance, aptitude, technical, and communication data into one clear view.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31520" y="2834640"/>
            <a:ext cx="594360" cy="594360"/>
          </a:xfrm>
          <a:prstGeom prst="ellipse">
            <a:avLst/>
          </a:prstGeom>
          <a:solidFill>
            <a:srgbClr val="2E6DA4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54" y="298917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2816352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monitoring keeps every student’s preparation on track, not just before placements.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31520" y="3703320"/>
            <a:ext cx="594360" cy="594360"/>
          </a:xfrm>
          <a:prstGeom prst="ellipse">
            <a:avLst/>
          </a:prstGeom>
          <a:solidFill>
            <a:srgbClr val="2E6DA4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054" y="3857854"/>
            <a:ext cx="285293" cy="28529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54480" y="3685032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E7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habit of tracking today builds real placement success tomorrow.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731520" y="4892040"/>
            <a:ext cx="10698480" cy="0"/>
          </a:xfrm>
          <a:prstGeom prst="line">
            <a:avLst/>
          </a:prstGeom>
          <a:noFill/>
          <a:ln w="12700">
            <a:solidFill>
              <a:srgbClr val="2E6DA4">
                <a:alpha val="6000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394960" y="5166360"/>
            <a:ext cx="1005840" cy="1005840"/>
          </a:xfrm>
          <a:prstGeom prst="ellipse">
            <a:avLst/>
          </a:prstGeom>
          <a:solidFill>
            <a:srgbClr val="2E6DA4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56478" y="5427878"/>
            <a:ext cx="482803" cy="48280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0" y="626364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452</Words>
  <Application>Microsoft Office PowerPoint</Application>
  <PresentationFormat>Widescreen</PresentationFormat>
  <Paragraphs>106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Gify Samuel A</cp:lastModifiedBy>
  <cp:revision>2</cp:revision>
  <dcterms:created xsi:type="dcterms:W3CDTF">2026-09-11T06:59:08Z</dcterms:created>
  <dcterms:modified xsi:type="dcterms:W3CDTF">2026-09-11T08:43:46Z</dcterms:modified>
</cp:coreProperties>
</file>